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59" r:id="rId5"/>
    <p:sldId id="266"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60E496-0125-4112-8C12-D2276581FA4E}" v="161" dt="2026-02-05T15:34:00.913"/>
    <p1510:client id="{E5D1601F-0D15-4DF6-AEE2-3D0B53E54C9B}" v="1725" dt="2026-02-05T15:29:29.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2" d="100"/>
          <a:sy n="72" d="100"/>
        </p:scale>
        <p:origin x="-456"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xmlns="" id="{99C8667E-058A-436F-B8EA-5B3A99D43D09}"/>
              </a:ext>
            </a:extLst>
          </p:cNvPr>
          <p:cNvSpPr>
            <a:spLocks noGrp="1"/>
          </p:cNvSpPr>
          <p:nvPr>
            <p:ph type="dt" sz="half" idx="10"/>
          </p:nvPr>
        </p:nvSpPr>
        <p:spPr/>
        <p:txBody>
          <a:bodyPr/>
          <a:lstStyle/>
          <a:p>
            <a:fld id="{D1D1EADE-8E88-4C7C-8AC5-FB148DE4940E}" type="datetime1">
              <a:rPr lang="en-US" smtClean="0"/>
              <a:pPr/>
              <a:t>2/6/2026</a:t>
            </a:fld>
            <a:endParaRPr lang="en-US"/>
          </a:p>
        </p:txBody>
      </p:sp>
      <p:sp>
        <p:nvSpPr>
          <p:cNvPr id="5" name="Footer Placeholder 4">
            <a:extLst>
              <a:ext uri="{FF2B5EF4-FFF2-40B4-BE49-F238E27FC236}">
                <a16:creationId xmlns:a16="http://schemas.microsoft.com/office/drawing/2014/main" xmlns=""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BE5762A1-52E9-402D-B65E-DF193E44CE83}"/>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298056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7CC3EC35-E02F-41FF-9232-F90692A902FC}"/>
              </a:ext>
            </a:extLst>
          </p:cNvPr>
          <p:cNvSpPr>
            <a:spLocks noGrp="1"/>
          </p:cNvSpPr>
          <p:nvPr>
            <p:ph type="dt" sz="half" idx="10"/>
          </p:nvPr>
        </p:nvSpPr>
        <p:spPr/>
        <p:txBody>
          <a:bodyPr/>
          <a:lstStyle/>
          <a:p>
            <a:fld id="{157B6794-849E-4626-908B-D15793550EFB}" type="datetime1">
              <a:rPr lang="en-US" smtClean="0"/>
              <a:pPr/>
              <a:t>2/6/2026</a:t>
            </a:fld>
            <a:endParaRPr lang="en-US"/>
          </a:p>
        </p:txBody>
      </p:sp>
      <p:sp>
        <p:nvSpPr>
          <p:cNvPr id="5" name="Footer Placeholder 4">
            <a:extLst>
              <a:ext uri="{FF2B5EF4-FFF2-40B4-BE49-F238E27FC236}">
                <a16:creationId xmlns:a16="http://schemas.microsoft.com/office/drawing/2014/main" xmlns=""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F25E644A-4A37-4757-9809-5B035E2874E6}"/>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444120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5806546A-957F-4C4D-9744-1177AD258E10}"/>
              </a:ext>
            </a:extLst>
          </p:cNvPr>
          <p:cNvSpPr>
            <a:spLocks noGrp="1"/>
          </p:cNvSpPr>
          <p:nvPr>
            <p:ph type="dt" sz="half" idx="10"/>
          </p:nvPr>
        </p:nvSpPr>
        <p:spPr/>
        <p:txBody>
          <a:bodyPr/>
          <a:lstStyle/>
          <a:p>
            <a:fld id="{63DB64E7-5594-42A3-ADBF-E95A7ACEAD64}" type="datetime1">
              <a:rPr lang="en-US" smtClean="0"/>
              <a:pPr/>
              <a:t>2/6/2026</a:t>
            </a:fld>
            <a:endParaRPr lang="en-US"/>
          </a:p>
        </p:txBody>
      </p:sp>
      <p:sp>
        <p:nvSpPr>
          <p:cNvPr id="5" name="Footer Placeholder 4">
            <a:extLst>
              <a:ext uri="{FF2B5EF4-FFF2-40B4-BE49-F238E27FC236}">
                <a16:creationId xmlns:a16="http://schemas.microsoft.com/office/drawing/2014/main" xmlns=""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EDB94775-7982-41EC-B584-D51224D38F77}"/>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2792090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xmlns=""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xmlns="" id="{89F02C13-D3ED-4044-9716-F29D79A184C9}"/>
              </a:ext>
            </a:extLst>
          </p:cNvPr>
          <p:cNvSpPr>
            <a:spLocks noGrp="1"/>
          </p:cNvSpPr>
          <p:nvPr>
            <p:ph type="dt" sz="half" idx="10"/>
          </p:nvPr>
        </p:nvSpPr>
        <p:spPr/>
        <p:txBody>
          <a:bodyPr/>
          <a:lstStyle/>
          <a:p>
            <a:fld id="{18462B0B-D248-4FFB-8695-AD7FA4B1284A}" type="datetime1">
              <a:rPr lang="en-US" smtClean="0"/>
              <a:pPr/>
              <a:t>2/6/2026</a:t>
            </a:fld>
            <a:endParaRPr lang="en-US"/>
          </a:p>
        </p:txBody>
      </p:sp>
      <p:sp>
        <p:nvSpPr>
          <p:cNvPr id="6" name="Footer Placeholder 5">
            <a:extLst>
              <a:ext uri="{FF2B5EF4-FFF2-40B4-BE49-F238E27FC236}">
                <a16:creationId xmlns:a16="http://schemas.microsoft.com/office/drawing/2014/main" xmlns=""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BA5AA154-790C-4774-9C21-8C543E733F26}"/>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3621332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xmlns="" id="{2511B5C7-1E37-478F-B4B0-C7202FFE41B9}"/>
              </a:ext>
            </a:extLst>
          </p:cNvPr>
          <p:cNvSpPr>
            <a:spLocks noGrp="1"/>
          </p:cNvSpPr>
          <p:nvPr>
            <p:ph type="dt" sz="half" idx="10"/>
          </p:nvPr>
        </p:nvSpPr>
        <p:spPr/>
        <p:txBody>
          <a:bodyPr/>
          <a:lstStyle/>
          <a:p>
            <a:fld id="{D0378EFB-9159-4510-B73F-4F0409ADE937}" type="datetime1">
              <a:rPr lang="en-US" smtClean="0"/>
              <a:pPr/>
              <a:t>2/6/2026</a:t>
            </a:fld>
            <a:endParaRPr lang="en-US"/>
          </a:p>
        </p:txBody>
      </p:sp>
      <p:sp>
        <p:nvSpPr>
          <p:cNvPr id="8" name="Footer Placeholder 7">
            <a:extLst>
              <a:ext uri="{FF2B5EF4-FFF2-40B4-BE49-F238E27FC236}">
                <a16:creationId xmlns:a16="http://schemas.microsoft.com/office/drawing/2014/main" xmlns=""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58E3DEA6-E4EB-4C2A-8B4F-55EC965B6219}"/>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2707066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xmlns="" id="{5D684C9D-23DA-42B0-9DD3-7592F72E8DC9}"/>
              </a:ext>
            </a:extLst>
          </p:cNvPr>
          <p:cNvSpPr>
            <a:spLocks noGrp="1"/>
          </p:cNvSpPr>
          <p:nvPr>
            <p:ph type="dt" sz="half" idx="10"/>
          </p:nvPr>
        </p:nvSpPr>
        <p:spPr/>
        <p:txBody>
          <a:bodyPr/>
          <a:lstStyle/>
          <a:p>
            <a:fld id="{89BC9412-2452-4BED-A324-9D8C115361AD}" type="datetime1">
              <a:rPr lang="en-US" smtClean="0"/>
              <a:pPr/>
              <a:t>2/6/2026</a:t>
            </a:fld>
            <a:endParaRPr lang="en-US"/>
          </a:p>
        </p:txBody>
      </p:sp>
      <p:sp>
        <p:nvSpPr>
          <p:cNvPr id="4" name="Footer Placeholder 3">
            <a:extLst>
              <a:ext uri="{FF2B5EF4-FFF2-40B4-BE49-F238E27FC236}">
                <a16:creationId xmlns:a16="http://schemas.microsoft.com/office/drawing/2014/main" xmlns=""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153D20DA-9260-4577-BB51-789570A243AF}"/>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2619851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D2C1F24-E0A1-45A7-8EF5-92CD9799341C}"/>
              </a:ext>
            </a:extLst>
          </p:cNvPr>
          <p:cNvSpPr>
            <a:spLocks noGrp="1"/>
          </p:cNvSpPr>
          <p:nvPr>
            <p:ph type="dt" sz="half" idx="10"/>
          </p:nvPr>
        </p:nvSpPr>
        <p:spPr/>
        <p:txBody>
          <a:bodyPr/>
          <a:lstStyle/>
          <a:p>
            <a:fld id="{F5318F62-D251-40E8-A23C-F4CFE9FEAB41}" type="datetime1">
              <a:rPr lang="en-US" smtClean="0"/>
              <a:pPr/>
              <a:t>2/6/2026</a:t>
            </a:fld>
            <a:endParaRPr lang="en-US"/>
          </a:p>
        </p:txBody>
      </p:sp>
      <p:sp>
        <p:nvSpPr>
          <p:cNvPr id="3" name="Footer Placeholder 2">
            <a:extLst>
              <a:ext uri="{FF2B5EF4-FFF2-40B4-BE49-F238E27FC236}">
                <a16:creationId xmlns:a16="http://schemas.microsoft.com/office/drawing/2014/main" xmlns=""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1A880FEF-487E-44DF-8615-DF2210419602}"/>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3161695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xmlns=""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B58D2EA-2191-4216-B64D-067BDFE12375}"/>
              </a:ext>
            </a:extLst>
          </p:cNvPr>
          <p:cNvSpPr>
            <a:spLocks noGrp="1"/>
          </p:cNvSpPr>
          <p:nvPr>
            <p:ph type="dt" sz="half" idx="10"/>
          </p:nvPr>
        </p:nvSpPr>
        <p:spPr/>
        <p:txBody>
          <a:bodyPr/>
          <a:lstStyle/>
          <a:p>
            <a:fld id="{44F76144-149E-4874-93A5-554A0357CF82}" type="datetime1">
              <a:rPr lang="en-US" smtClean="0"/>
              <a:pPr/>
              <a:t>2/6/2026</a:t>
            </a:fld>
            <a:endParaRPr lang="en-US"/>
          </a:p>
        </p:txBody>
      </p:sp>
      <p:sp>
        <p:nvSpPr>
          <p:cNvPr id="6" name="Footer Placeholder 5">
            <a:extLst>
              <a:ext uri="{FF2B5EF4-FFF2-40B4-BE49-F238E27FC236}">
                <a16:creationId xmlns:a16="http://schemas.microsoft.com/office/drawing/2014/main" xmlns=""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AE50E382-C500-4A4C-A7C6-43860383AB91}"/>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4121032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xmlns=""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xmlns=""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0C38EAB-AD63-415C-B263-BA1D8FBE3CB0}"/>
              </a:ext>
            </a:extLst>
          </p:cNvPr>
          <p:cNvSpPr>
            <a:spLocks noGrp="1"/>
          </p:cNvSpPr>
          <p:nvPr>
            <p:ph type="dt" sz="half" idx="10"/>
          </p:nvPr>
        </p:nvSpPr>
        <p:spPr/>
        <p:txBody>
          <a:bodyPr/>
          <a:lstStyle/>
          <a:p>
            <a:fld id="{50BA65D8-0540-4835-AE5C-25D29DBA01BE}" type="datetime1">
              <a:rPr lang="en-US" smtClean="0"/>
              <a:pPr/>
              <a:t>2/6/2026</a:t>
            </a:fld>
            <a:endParaRPr lang="en-US"/>
          </a:p>
        </p:txBody>
      </p:sp>
      <p:sp>
        <p:nvSpPr>
          <p:cNvPr id="6" name="Footer Placeholder 5">
            <a:extLst>
              <a:ext uri="{FF2B5EF4-FFF2-40B4-BE49-F238E27FC236}">
                <a16:creationId xmlns:a16="http://schemas.microsoft.com/office/drawing/2014/main" xmlns=""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DBB78D45-289B-46AF-8CB9-E6150BEA17ED}"/>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4120147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xmlns=""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C8A70B00-53AE-4D3F-91BE-A8D789ED9864}"/>
              </a:ext>
            </a:extLst>
          </p:cNvPr>
          <p:cNvSpPr>
            <a:spLocks noGrp="1"/>
          </p:cNvSpPr>
          <p:nvPr>
            <p:ph type="dt" sz="half" idx="10"/>
          </p:nvPr>
        </p:nvSpPr>
        <p:spPr/>
        <p:txBody>
          <a:bodyPr/>
          <a:lstStyle/>
          <a:p>
            <a:fld id="{EC3C8B9C-477D-492A-96AD-1FC2CC997A73}" type="datetime1">
              <a:rPr lang="en-US" smtClean="0"/>
              <a:pPr/>
              <a:t>2/6/2026</a:t>
            </a:fld>
            <a:endParaRPr lang="en-US"/>
          </a:p>
        </p:txBody>
      </p:sp>
      <p:sp>
        <p:nvSpPr>
          <p:cNvPr id="5" name="Footer Placeholder 4">
            <a:extLst>
              <a:ext uri="{FF2B5EF4-FFF2-40B4-BE49-F238E27FC236}">
                <a16:creationId xmlns:a16="http://schemas.microsoft.com/office/drawing/2014/main" xmlns=""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B47CEBE4-50DC-47DB-B699-CCC024336C9F}"/>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2317254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xmlns=""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56ACD4D0-5BE6-412D-B08B-5DFFD593513E}"/>
              </a:ext>
            </a:extLst>
          </p:cNvPr>
          <p:cNvSpPr>
            <a:spLocks noGrp="1"/>
          </p:cNvSpPr>
          <p:nvPr>
            <p:ph type="dt" sz="half" idx="10"/>
          </p:nvPr>
        </p:nvSpPr>
        <p:spPr/>
        <p:txBody>
          <a:bodyPr/>
          <a:lstStyle/>
          <a:p>
            <a:fld id="{42D3AED5-E26D-4E29-B1B3-7847B6779594}" type="datetime1">
              <a:rPr lang="en-US" smtClean="0"/>
              <a:pPr/>
              <a:t>2/6/2026</a:t>
            </a:fld>
            <a:endParaRPr lang="en-US"/>
          </a:p>
        </p:txBody>
      </p:sp>
      <p:sp>
        <p:nvSpPr>
          <p:cNvPr id="5" name="Footer Placeholder 4">
            <a:extLst>
              <a:ext uri="{FF2B5EF4-FFF2-40B4-BE49-F238E27FC236}">
                <a16:creationId xmlns:a16="http://schemas.microsoft.com/office/drawing/2014/main" xmlns=""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74504D2D-9379-40DE-9F45-3004BE54F16B}"/>
              </a:ext>
            </a:extLst>
          </p:cNvPr>
          <p:cNvSpPr>
            <a:spLocks noGrp="1"/>
          </p:cNvSpPr>
          <p:nvPr>
            <p:ph type="sldNum" sz="quarter" idx="12"/>
          </p:nvPr>
        </p:nvSpPr>
        <p:spPr/>
        <p:txBody>
          <a:bodyPr/>
          <a:lstStyle/>
          <a:p>
            <a:fld id="{87E7843D-FF13-4365-9478-9625B70A2705}" type="slidenum">
              <a:rPr lang="en-US" smtClean="0"/>
              <a:pPr/>
              <a:t>‹#›</a:t>
            </a:fld>
            <a:endParaRPr lang="en-US"/>
          </a:p>
        </p:txBody>
      </p:sp>
    </p:spTree>
    <p:extLst>
      <p:ext uri="{BB962C8B-B14F-4D97-AF65-F5344CB8AC3E}">
        <p14:creationId xmlns:p14="http://schemas.microsoft.com/office/powerpoint/2010/main" xmlns="" val="159044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pPr/>
              <a:t>2/6/2026</a:t>
            </a:fld>
            <a:endParaRPr lang="en-US"/>
          </a:p>
        </p:txBody>
      </p:sp>
      <p:sp>
        <p:nvSpPr>
          <p:cNvPr id="5" name="Footer Placeholder 4">
            <a:extLst>
              <a:ext uri="{FF2B5EF4-FFF2-40B4-BE49-F238E27FC236}">
                <a16:creationId xmlns:a16="http://schemas.microsoft.com/office/drawing/2014/main" xmlns=""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xmlns=""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pPr/>
              <a:t>‹#›</a:t>
            </a:fld>
            <a:endParaRPr lang="en-US"/>
          </a:p>
        </p:txBody>
      </p:sp>
      <p:cxnSp>
        <p:nvCxnSpPr>
          <p:cNvPr id="7" name="Straight Connector 6">
            <a:extLst>
              <a:ext uri="{FF2B5EF4-FFF2-40B4-BE49-F238E27FC236}">
                <a16:creationId xmlns:a16="http://schemas.microsoft.com/office/drawing/2014/main" xmlns=""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58988355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14616" y="2485103"/>
            <a:ext cx="9038433" cy="3269590"/>
          </a:xfrm>
        </p:spPr>
        <p:txBody>
          <a:bodyPr anchor="b">
            <a:normAutofit/>
          </a:bodyPr>
          <a:lstStyle/>
          <a:p>
            <a:r>
              <a:rPr lang="en-US" sz="6600" dirty="0"/>
              <a:t>Math Project </a:t>
            </a:r>
            <a:r>
              <a:rPr lang="en-US" sz="6600" dirty="0" smtClean="0"/>
              <a:t>Group-A</a:t>
            </a:r>
            <a:endParaRPr lang="en-US" sz="6600" dirty="0"/>
          </a:p>
        </p:txBody>
      </p:sp>
      <p:sp>
        <p:nvSpPr>
          <p:cNvPr id="3" name="Subtitle 2"/>
          <p:cNvSpPr>
            <a:spLocks noGrp="1"/>
          </p:cNvSpPr>
          <p:nvPr>
            <p:ph type="subTitle" idx="1"/>
          </p:nvPr>
        </p:nvSpPr>
        <p:spPr>
          <a:xfrm>
            <a:off x="723900" y="1184470"/>
            <a:ext cx="8855529" cy="1011050"/>
          </a:xfrm>
        </p:spPr>
        <p:txBody>
          <a:bodyPr anchor="t">
            <a:normAutofit/>
          </a:bodyPr>
          <a:lstStyle/>
          <a:p>
            <a:r>
              <a:rPr lang="en-US" dirty="0"/>
              <a:t>Made by members of Group A, a project on brick price estimation.</a:t>
            </a:r>
          </a:p>
        </p:txBody>
      </p:sp>
      <p:cxnSp>
        <p:nvCxnSpPr>
          <p:cNvPr id="10" name="Straight Connector 9">
            <a:extLst>
              <a:ext uri="{FF2B5EF4-FFF2-40B4-BE49-F238E27FC236}">
                <a16:creationId xmlns:a16="http://schemas.microsoft.com/office/drawing/2014/main" xmlns=""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09857222"/>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F64F9B95-9045-48D2-B9F3-2927E98F54A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085AA86F-6A4D-4BCB-A045-D992CDC2959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3E9121D9-D5EC-B9BE-F495-E12AAB5EEF19}"/>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To do:</a:t>
            </a:r>
          </a:p>
        </p:txBody>
      </p:sp>
      <p:cxnSp>
        <p:nvCxnSpPr>
          <p:cNvPr id="14" name="Straight Connector 13">
            <a:extLst>
              <a:ext uri="{FF2B5EF4-FFF2-40B4-BE49-F238E27FC236}">
                <a16:creationId xmlns:a16="http://schemas.microsoft.com/office/drawing/2014/main" xmlns=""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87037250-B6B1-455A-F064-90EB0A5FB7A0}"/>
              </a:ext>
            </a:extLst>
          </p:cNvPr>
          <p:cNvSpPr txBox="1"/>
          <p:nvPr/>
        </p:nvSpPr>
        <p:spPr>
          <a:xfrm>
            <a:off x="752354" y="2551253"/>
            <a:ext cx="10696936"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Find total price of the amount of bricks used in the new building of KMGSS Sector 2, </a:t>
            </a:r>
            <a:r>
              <a:rPr lang="en-US" sz="2800" dirty="0" smtClean="0"/>
              <a:t>including </a:t>
            </a:r>
            <a:r>
              <a:rPr lang="en-US" sz="2800" dirty="0"/>
              <a:t>only the classrooms, washrooms and stairway walls.</a:t>
            </a:r>
          </a:p>
        </p:txBody>
      </p:sp>
    </p:spTree>
    <p:extLst>
      <p:ext uri="{BB962C8B-B14F-4D97-AF65-F5344CB8AC3E}">
        <p14:creationId xmlns:p14="http://schemas.microsoft.com/office/powerpoint/2010/main" xmlns="" val="3349653206"/>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DDB8BC50-4868-0F4E-D73C-1CB612BA3779}"/>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690F4D0D-B337-B0B4-915B-27014370E419}"/>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DF940D71-4BAF-822C-09FC-644644619F6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81D36C8B-34A9-6EED-85A7-C8CDDF9F7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B8391C9-20E7-9146-5CF8-9FD6B2F0F683}"/>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Method:</a:t>
            </a:r>
          </a:p>
        </p:txBody>
      </p:sp>
      <p:cxnSp>
        <p:nvCxnSpPr>
          <p:cNvPr id="14" name="Straight Connector 13">
            <a:extLst>
              <a:ext uri="{FF2B5EF4-FFF2-40B4-BE49-F238E27FC236}">
                <a16:creationId xmlns:a16="http://schemas.microsoft.com/office/drawing/2014/main" xmlns="" id="{6D32F827-29AB-E5AC-3C8A-3E2B76C4BD3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6CAA1A9E-80FC-639E-01AF-783F3665519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9C4388B5-D7A1-F2D6-D045-DA07CC1A71B8}"/>
              </a:ext>
            </a:extLst>
          </p:cNvPr>
          <p:cNvSpPr txBox="1"/>
          <p:nvPr/>
        </p:nvSpPr>
        <p:spPr>
          <a:xfrm>
            <a:off x="752354" y="2551253"/>
            <a:ext cx="10696936"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In order to find the total cost of the bricks used in such building, the total volume of walls in the building excluding doors, windows, floor and ceiling are divided by the volume of a single brick. After finding the number of bricks, the price of RS.13 per brick is to be calculated to find the total cost.</a:t>
            </a:r>
            <a:endParaRPr lang="en-US" dirty="0"/>
          </a:p>
        </p:txBody>
      </p:sp>
    </p:spTree>
    <p:extLst>
      <p:ext uri="{BB962C8B-B14F-4D97-AF65-F5344CB8AC3E}">
        <p14:creationId xmlns:p14="http://schemas.microsoft.com/office/powerpoint/2010/main" xmlns="" val="453218161"/>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C20330A0-C794-F24F-9254-B6437961002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3805DC70-8560-3E3E-F8DC-3F8E81F52655}"/>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2B0CA574-A064-FA38-1711-957361D41B96}"/>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A7992994-50D1-13EF-AEB5-49CAB0B9B5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8955C72-8B23-81D7-3919-4D600138D5E1}"/>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Visualize:</a:t>
            </a:r>
          </a:p>
        </p:txBody>
      </p:sp>
      <p:cxnSp>
        <p:nvCxnSpPr>
          <p:cNvPr id="14" name="Straight Connector 13">
            <a:extLst>
              <a:ext uri="{FF2B5EF4-FFF2-40B4-BE49-F238E27FC236}">
                <a16:creationId xmlns:a16="http://schemas.microsoft.com/office/drawing/2014/main" xmlns="" id="{B4E6EBA9-CAC5-141B-B479-EF98B351B90F}"/>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D1B82B2E-D01F-48A1-3DC0-56B9F8E2029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xmlns="" id="{340DE3BC-D861-F705-9BF5-C1A914AB234B}"/>
              </a:ext>
            </a:extLst>
          </p:cNvPr>
          <p:cNvPicPr>
            <a:picLocks noChangeAspect="1"/>
          </p:cNvPicPr>
          <p:nvPr/>
        </p:nvPicPr>
        <p:blipFill>
          <a:blip r:embed="rId2" cstate="print"/>
          <a:stretch>
            <a:fillRect/>
          </a:stretch>
        </p:blipFill>
        <p:spPr>
          <a:xfrm>
            <a:off x="754124" y="2681468"/>
            <a:ext cx="3453115" cy="3453115"/>
          </a:xfrm>
          <a:prstGeom prst="rect">
            <a:avLst/>
          </a:prstGeom>
        </p:spPr>
      </p:pic>
      <p:pic>
        <p:nvPicPr>
          <p:cNvPr id="13" name="Picture 12">
            <a:extLst>
              <a:ext uri="{FF2B5EF4-FFF2-40B4-BE49-F238E27FC236}">
                <a16:creationId xmlns:a16="http://schemas.microsoft.com/office/drawing/2014/main" xmlns="" id="{7314608C-516E-E498-C293-29FF27838B32}"/>
              </a:ext>
            </a:extLst>
          </p:cNvPr>
          <p:cNvPicPr>
            <a:picLocks noChangeAspect="1"/>
          </p:cNvPicPr>
          <p:nvPr/>
        </p:nvPicPr>
        <p:blipFill>
          <a:blip r:embed="rId3" cstate="print"/>
          <a:stretch>
            <a:fillRect/>
          </a:stretch>
        </p:blipFill>
        <p:spPr>
          <a:xfrm>
            <a:off x="4207131" y="2556076"/>
            <a:ext cx="3578508" cy="3578508"/>
          </a:xfrm>
          <a:prstGeom prst="rect">
            <a:avLst/>
          </a:prstGeom>
        </p:spPr>
      </p:pic>
      <p:pic>
        <p:nvPicPr>
          <p:cNvPr id="15" name="Picture 14" descr="A logo with a black background&#10;&#10;AI-generated content may be incorrect.">
            <a:extLst>
              <a:ext uri="{FF2B5EF4-FFF2-40B4-BE49-F238E27FC236}">
                <a16:creationId xmlns:a16="http://schemas.microsoft.com/office/drawing/2014/main" xmlns="" id="{27F49BF2-57FF-79A3-3395-B21DA1002744}"/>
              </a:ext>
            </a:extLst>
          </p:cNvPr>
          <p:cNvPicPr>
            <a:picLocks noChangeAspect="1"/>
          </p:cNvPicPr>
          <p:nvPr/>
        </p:nvPicPr>
        <p:blipFill>
          <a:blip r:embed="rId4" cstate="print"/>
          <a:stretch>
            <a:fillRect/>
          </a:stretch>
        </p:blipFill>
        <p:spPr>
          <a:xfrm>
            <a:off x="7785637" y="2507848"/>
            <a:ext cx="3578508" cy="3578508"/>
          </a:xfrm>
          <a:prstGeom prst="rect">
            <a:avLst/>
          </a:prstGeom>
        </p:spPr>
      </p:pic>
      <p:sp>
        <p:nvSpPr>
          <p:cNvPr id="17" name="TextBox 16">
            <a:extLst>
              <a:ext uri="{FF2B5EF4-FFF2-40B4-BE49-F238E27FC236}">
                <a16:creationId xmlns:a16="http://schemas.microsoft.com/office/drawing/2014/main" xmlns="" id="{729867E7-7454-7E0F-6D3C-0C575F5EF49F}"/>
              </a:ext>
            </a:extLst>
          </p:cNvPr>
          <p:cNvSpPr txBox="1"/>
          <p:nvPr/>
        </p:nvSpPr>
        <p:spPr>
          <a:xfrm>
            <a:off x="1630102" y="3033532"/>
            <a:ext cx="190982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CLASS ROOM</a:t>
            </a:r>
          </a:p>
        </p:txBody>
      </p:sp>
      <p:sp>
        <p:nvSpPr>
          <p:cNvPr id="18" name="TextBox 17">
            <a:extLst>
              <a:ext uri="{FF2B5EF4-FFF2-40B4-BE49-F238E27FC236}">
                <a16:creationId xmlns:a16="http://schemas.microsoft.com/office/drawing/2014/main" xmlns="" id="{BDB495D9-7EFE-9F29-3DC1-8B0ED69BE702}"/>
              </a:ext>
            </a:extLst>
          </p:cNvPr>
          <p:cNvSpPr txBox="1"/>
          <p:nvPr/>
        </p:nvSpPr>
        <p:spPr>
          <a:xfrm>
            <a:off x="5141089" y="2937076"/>
            <a:ext cx="204486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WASH ROOMS</a:t>
            </a:r>
          </a:p>
        </p:txBody>
      </p:sp>
      <p:sp>
        <p:nvSpPr>
          <p:cNvPr id="19" name="TextBox 18">
            <a:extLst>
              <a:ext uri="{FF2B5EF4-FFF2-40B4-BE49-F238E27FC236}">
                <a16:creationId xmlns:a16="http://schemas.microsoft.com/office/drawing/2014/main" xmlns="" id="{548848B6-9A2D-6501-982B-54FCA1E0120A}"/>
              </a:ext>
            </a:extLst>
          </p:cNvPr>
          <p:cNvSpPr txBox="1"/>
          <p:nvPr/>
        </p:nvSpPr>
        <p:spPr>
          <a:xfrm>
            <a:off x="8873924" y="2937075"/>
            <a:ext cx="166868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STAIR WAY</a:t>
            </a:r>
          </a:p>
        </p:txBody>
      </p:sp>
    </p:spTree>
    <p:extLst>
      <p:ext uri="{BB962C8B-B14F-4D97-AF65-F5344CB8AC3E}">
        <p14:creationId xmlns:p14="http://schemas.microsoft.com/office/powerpoint/2010/main" xmlns="" val="4053329099"/>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DDB8BC50-4868-0F4E-D73C-1CB612BA3779}"/>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690F4D0D-B337-B0B4-915B-27014370E419}"/>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DF940D71-4BAF-822C-09FC-644644619F6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81D36C8B-34A9-6EED-85A7-C8CDDF9F7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B8391C9-20E7-9146-5CF8-9FD6B2F0F683}"/>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smtClean="0"/>
              <a:t>BRICK</a:t>
            </a:r>
            <a:r>
              <a:rPr lang="en-US" sz="6600" dirty="0" smtClean="0"/>
              <a:t>:</a:t>
            </a:r>
            <a:endParaRPr lang="en-US" sz="6600" dirty="0"/>
          </a:p>
        </p:txBody>
      </p:sp>
      <p:cxnSp>
        <p:nvCxnSpPr>
          <p:cNvPr id="14" name="Straight Connector 13">
            <a:extLst>
              <a:ext uri="{FF2B5EF4-FFF2-40B4-BE49-F238E27FC236}">
                <a16:creationId xmlns:a16="http://schemas.microsoft.com/office/drawing/2014/main" xmlns="" id="{6D32F827-29AB-E5AC-3C8A-3E2B76C4BD3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6CAA1A9E-80FC-639E-01AF-783F3665519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9C4388B5-D7A1-F2D6-D045-DA07CC1A71B8}"/>
              </a:ext>
            </a:extLst>
          </p:cNvPr>
          <p:cNvSpPr txBox="1"/>
          <p:nvPr/>
        </p:nvSpPr>
        <p:spPr>
          <a:xfrm>
            <a:off x="765606" y="2339219"/>
            <a:ext cx="326305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smtClean="0"/>
              <a:t>Measurements:</a:t>
            </a:r>
          </a:p>
          <a:p>
            <a:r>
              <a:rPr lang="en-US" sz="2400" dirty="0" smtClean="0"/>
              <a:t>Length:21cm = 0.7ft</a:t>
            </a:r>
          </a:p>
          <a:p>
            <a:r>
              <a:rPr lang="en-US" sz="2400" dirty="0" smtClean="0"/>
              <a:t>Breadth:6cm = 0.2ft</a:t>
            </a:r>
          </a:p>
          <a:p>
            <a:r>
              <a:rPr lang="en-US" sz="2400" dirty="0" smtClean="0"/>
              <a:t>Height:10cm = 0.3ft</a:t>
            </a:r>
            <a:endParaRPr lang="en-US" sz="2000" dirty="0"/>
          </a:p>
        </p:txBody>
      </p:sp>
      <p:pic>
        <p:nvPicPr>
          <p:cNvPr id="1026" name="Picture 2" descr="C:\Users\DELL-3\Downloads\image-removebg-preview.png"/>
          <p:cNvPicPr>
            <a:picLocks noChangeAspect="1" noChangeArrowheads="1"/>
          </p:cNvPicPr>
          <p:nvPr/>
        </p:nvPicPr>
        <p:blipFill>
          <a:blip r:embed="rId2" cstate="print">
            <a:duotone>
              <a:prstClr val="black"/>
              <a:srgbClr val="D9C3A5">
                <a:tint val="50000"/>
                <a:satMod val="180000"/>
              </a:srgbClr>
            </a:duotone>
            <a:lum bright="-20000"/>
          </a:blip>
          <a:srcRect/>
          <a:stretch>
            <a:fillRect/>
          </a:stretch>
        </p:blipFill>
        <p:spPr bwMode="auto">
          <a:xfrm>
            <a:off x="5411580" y="1303268"/>
            <a:ext cx="4355272" cy="4355272"/>
          </a:xfrm>
          <a:prstGeom prst="rect">
            <a:avLst/>
          </a:prstGeom>
          <a:noFill/>
          <a:scene3d>
            <a:camera prst="orthographicFront">
              <a:rot lat="0" lon="0" rev="0"/>
            </a:camera>
            <a:lightRig rig="threePt" dir="t"/>
          </a:scene3d>
        </p:spPr>
      </p:pic>
      <p:sp>
        <p:nvSpPr>
          <p:cNvPr id="11" name="TextBox 10">
            <a:extLst>
              <a:ext uri="{FF2B5EF4-FFF2-40B4-BE49-F238E27FC236}">
                <a16:creationId xmlns:a16="http://schemas.microsoft.com/office/drawing/2014/main" xmlns="" id="{9C4388B5-D7A1-F2D6-D045-DA07CC1A71B8}"/>
              </a:ext>
            </a:extLst>
          </p:cNvPr>
          <p:cNvSpPr txBox="1"/>
          <p:nvPr/>
        </p:nvSpPr>
        <p:spPr>
          <a:xfrm>
            <a:off x="785485" y="4373427"/>
            <a:ext cx="326305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smtClean="0"/>
              <a:t>=&gt; VOLUME = 0.042ft3</a:t>
            </a:r>
            <a:endParaRPr lang="en-US" sz="2000" dirty="0"/>
          </a:p>
        </p:txBody>
      </p:sp>
    </p:spTree>
    <p:extLst>
      <p:ext uri="{BB962C8B-B14F-4D97-AF65-F5344CB8AC3E}">
        <p14:creationId xmlns:p14="http://schemas.microsoft.com/office/powerpoint/2010/main" xmlns="" val="453218161"/>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ED333A2C-8ED1-CED0-6290-F84843415C2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3BC53F64-740F-4709-87DE-9D8AE3FC23F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29D851A8-F0CF-6C92-E2EB-74215F198A4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B54CAA1C-603E-C768-F012-2D802A02CD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9C200E2-9534-5120-D4C1-25FB109D8C2E}"/>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CLASS ROOM:</a:t>
            </a:r>
            <a:endParaRPr lang="en-US" dirty="0"/>
          </a:p>
        </p:txBody>
      </p:sp>
      <p:cxnSp>
        <p:nvCxnSpPr>
          <p:cNvPr id="14" name="Straight Connector 13">
            <a:extLst>
              <a:ext uri="{FF2B5EF4-FFF2-40B4-BE49-F238E27FC236}">
                <a16:creationId xmlns:a16="http://schemas.microsoft.com/office/drawing/2014/main" xmlns="" id="{C143205C-6B13-2726-28DB-4B2CBE77F3B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CED87E16-BD0A-DB54-57AB-C9D0024D3A2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98A87679-6B80-8295-FA01-2506AAEB2BC4}"/>
              </a:ext>
            </a:extLst>
          </p:cNvPr>
          <p:cNvSpPr txBox="1"/>
          <p:nvPr/>
        </p:nvSpPr>
        <p:spPr>
          <a:xfrm>
            <a:off x="800581" y="2551253"/>
            <a:ext cx="2720051"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Measurements:</a:t>
            </a:r>
            <a:br>
              <a:rPr lang="en-US" sz="2800" dirty="0"/>
            </a:br>
            <a:r>
              <a:rPr lang="en-US" sz="2000" dirty="0" smtClean="0"/>
              <a:t>Length:28ft</a:t>
            </a:r>
            <a:r>
              <a:rPr lang="en-US" sz="2000" dirty="0"/>
              <a:t/>
            </a:r>
            <a:br>
              <a:rPr lang="en-US" sz="2000" dirty="0"/>
            </a:br>
            <a:r>
              <a:rPr lang="en-US" sz="2000" dirty="0" smtClean="0"/>
              <a:t>Breadth:18ft</a:t>
            </a:r>
            <a:r>
              <a:rPr lang="en-US" sz="2000" dirty="0"/>
              <a:t/>
            </a:r>
            <a:br>
              <a:rPr lang="en-US" sz="2000" dirty="0"/>
            </a:br>
            <a:r>
              <a:rPr lang="en-US" sz="2000" dirty="0" smtClean="0"/>
              <a:t>Height:10ft</a:t>
            </a:r>
            <a:r>
              <a:rPr lang="en-US" sz="2000" dirty="0"/>
              <a:t/>
            </a:r>
            <a:br>
              <a:rPr lang="en-US" sz="2000" dirty="0"/>
            </a:br>
            <a:r>
              <a:rPr lang="en-US" sz="2000" dirty="0"/>
              <a:t>Thickness of </a:t>
            </a:r>
            <a:r>
              <a:rPr lang="en-US" sz="2000" dirty="0" smtClean="0"/>
              <a:t>Wall:1ft</a:t>
            </a:r>
            <a:endParaRPr lang="en-US" dirty="0"/>
          </a:p>
          <a:p>
            <a:r>
              <a:rPr lang="en-US" sz="2000" dirty="0"/>
              <a:t>Length of </a:t>
            </a:r>
            <a:r>
              <a:rPr lang="en-US" sz="2000" dirty="0" smtClean="0"/>
              <a:t>window:9ft</a:t>
            </a:r>
            <a:r>
              <a:rPr lang="en-US" sz="2000" dirty="0"/>
              <a:t/>
            </a:r>
            <a:br>
              <a:rPr lang="en-US" sz="2000" dirty="0"/>
            </a:br>
            <a:r>
              <a:rPr lang="en-US" sz="2000" dirty="0"/>
              <a:t>Breadth of </a:t>
            </a:r>
            <a:r>
              <a:rPr lang="en-US" sz="2000" dirty="0" smtClean="0"/>
              <a:t>window:6ft</a:t>
            </a:r>
            <a:r>
              <a:rPr lang="en-US" sz="2000" dirty="0"/>
              <a:t/>
            </a:r>
            <a:br>
              <a:rPr lang="en-US" sz="2000" dirty="0"/>
            </a:br>
            <a:r>
              <a:rPr lang="en-US" sz="2000" dirty="0"/>
              <a:t>Length of </a:t>
            </a:r>
            <a:r>
              <a:rPr lang="en-US" sz="2000" dirty="0" smtClean="0"/>
              <a:t>door:7ft</a:t>
            </a:r>
            <a:r>
              <a:rPr lang="en-US" sz="2000" dirty="0"/>
              <a:t/>
            </a:r>
            <a:br>
              <a:rPr lang="en-US" sz="2000" dirty="0"/>
            </a:br>
            <a:r>
              <a:rPr lang="en-US" sz="2000" dirty="0"/>
              <a:t>Breadth of </a:t>
            </a:r>
            <a:r>
              <a:rPr lang="en-US" sz="2000" dirty="0" smtClean="0"/>
              <a:t>door:3ft</a:t>
            </a:r>
            <a:endParaRPr lang="en-US" dirty="0"/>
          </a:p>
        </p:txBody>
      </p:sp>
      <p:sp>
        <p:nvSpPr>
          <p:cNvPr id="3" name="TextBox 2">
            <a:extLst>
              <a:ext uri="{FF2B5EF4-FFF2-40B4-BE49-F238E27FC236}">
                <a16:creationId xmlns:a16="http://schemas.microsoft.com/office/drawing/2014/main" xmlns="" id="{AA80B180-AFF3-D95F-C240-ACAF9F838D8C}"/>
              </a:ext>
            </a:extLst>
          </p:cNvPr>
          <p:cNvSpPr txBox="1"/>
          <p:nvPr/>
        </p:nvSpPr>
        <p:spPr>
          <a:xfrm>
            <a:off x="4562354" y="4043938"/>
            <a:ext cx="509286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Segoe UI"/>
              </a:rPr>
              <a:t>Total volume of walls excluding doors and windows:</a:t>
            </a:r>
          </a:p>
        </p:txBody>
      </p:sp>
      <p:sp>
        <p:nvSpPr>
          <p:cNvPr id="5" name="TextBox 4">
            <a:extLst>
              <a:ext uri="{FF2B5EF4-FFF2-40B4-BE49-F238E27FC236}">
                <a16:creationId xmlns:a16="http://schemas.microsoft.com/office/drawing/2014/main" xmlns="" id="{960AB855-3950-1BC4-C3F0-D99DE05D974A}"/>
              </a:ext>
            </a:extLst>
          </p:cNvPr>
          <p:cNvSpPr txBox="1"/>
          <p:nvPr/>
        </p:nvSpPr>
        <p:spPr>
          <a:xfrm>
            <a:off x="4562354" y="3401650"/>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Calisto MT"/>
              </a:rPr>
              <a:t>=</a:t>
            </a:r>
            <a:r>
              <a:rPr lang="en-US" dirty="0">
                <a:latin typeface="Calisto MT"/>
              </a:rPr>
              <a:t> </a:t>
            </a:r>
            <a:r>
              <a:rPr lang="en-US" dirty="0" smtClean="0">
                <a:latin typeface="Calisto MT"/>
              </a:rPr>
              <a:t>920ft3</a:t>
            </a:r>
            <a:endParaRPr lang="en-US" dirty="0"/>
          </a:p>
        </p:txBody>
      </p:sp>
      <p:sp>
        <p:nvSpPr>
          <p:cNvPr id="6" name="TextBox 5">
            <a:extLst>
              <a:ext uri="{FF2B5EF4-FFF2-40B4-BE49-F238E27FC236}">
                <a16:creationId xmlns:a16="http://schemas.microsoft.com/office/drawing/2014/main" xmlns="" id="{894FE676-0A44-4072-C1B1-C0768D088542}"/>
              </a:ext>
            </a:extLst>
          </p:cNvPr>
          <p:cNvSpPr txBox="1"/>
          <p:nvPr/>
        </p:nvSpPr>
        <p:spPr>
          <a:xfrm>
            <a:off x="4613091" y="2550399"/>
            <a:ext cx="498847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Calisto MT"/>
                <a:cs typeface="Segoe UI"/>
              </a:rPr>
              <a:t>Volume of all Walls where there are 2 length side wall and 2 breadth side wall:</a:t>
            </a:r>
            <a:endParaRPr lang="en-US" sz="2000" dirty="0">
              <a:cs typeface="Segoe UI"/>
            </a:endParaRPr>
          </a:p>
        </p:txBody>
      </p:sp>
      <p:sp>
        <p:nvSpPr>
          <p:cNvPr id="7" name="TextBox 6">
            <a:extLst>
              <a:ext uri="{FF2B5EF4-FFF2-40B4-BE49-F238E27FC236}">
                <a16:creationId xmlns:a16="http://schemas.microsoft.com/office/drawing/2014/main" xmlns="" id="{5DB92E29-DDBF-233A-0FCE-844655802E40}"/>
              </a:ext>
            </a:extLst>
          </p:cNvPr>
          <p:cNvSpPr txBox="1"/>
          <p:nvPr/>
        </p:nvSpPr>
        <p:spPr>
          <a:xfrm>
            <a:off x="4560900" y="4851128"/>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7</a:t>
            </a:r>
            <a:r>
              <a:rPr lang="en-US" dirty="0" smtClean="0"/>
              <a:t>91ft3</a:t>
            </a:r>
            <a:endParaRPr lang="en-US" dirty="0"/>
          </a:p>
        </p:txBody>
      </p:sp>
    </p:spTree>
    <p:extLst>
      <p:ext uri="{BB962C8B-B14F-4D97-AF65-F5344CB8AC3E}">
        <p14:creationId xmlns:p14="http://schemas.microsoft.com/office/powerpoint/2010/main" xmlns="" val="3705957268"/>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8059CE31-E475-0581-9C17-724A29369013}"/>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D3ECBDE3-4B51-1D1E-AC8B-1417F7DF9F82}"/>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1311E5C3-2BAD-98CC-CCAE-9D2DD3121D95}"/>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E69E3EAD-6BEE-B2F8-E42A-2FBC3C5DE8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431C616-CC89-0190-5D4A-3F6858648A44}"/>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WASH ROOM:</a:t>
            </a:r>
            <a:endParaRPr lang="en-US" dirty="0"/>
          </a:p>
        </p:txBody>
      </p:sp>
      <p:cxnSp>
        <p:nvCxnSpPr>
          <p:cNvPr id="14" name="Straight Connector 13">
            <a:extLst>
              <a:ext uri="{FF2B5EF4-FFF2-40B4-BE49-F238E27FC236}">
                <a16:creationId xmlns:a16="http://schemas.microsoft.com/office/drawing/2014/main" xmlns="" id="{E415E83C-7F90-2F53-3387-DBB41666401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B1430B07-E54F-23D3-E37A-626CDBED239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EA169F59-EF81-C23B-5A85-7EC71E51F554}"/>
              </a:ext>
            </a:extLst>
          </p:cNvPr>
          <p:cNvSpPr txBox="1"/>
          <p:nvPr/>
        </p:nvSpPr>
        <p:spPr>
          <a:xfrm>
            <a:off x="800581" y="2551253"/>
            <a:ext cx="2720051"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Measurements:</a:t>
            </a:r>
            <a:br>
              <a:rPr lang="en-US" sz="2800" dirty="0"/>
            </a:br>
            <a:r>
              <a:rPr lang="en-US" sz="2000" dirty="0" smtClean="0"/>
              <a:t>Length:28ft</a:t>
            </a:r>
            <a:r>
              <a:rPr lang="en-US" sz="2000" dirty="0"/>
              <a:t/>
            </a:r>
            <a:br>
              <a:rPr lang="en-US" sz="2000" dirty="0"/>
            </a:br>
            <a:r>
              <a:rPr lang="en-US" sz="2000" dirty="0" smtClean="0"/>
              <a:t>Breadth:18ft</a:t>
            </a:r>
            <a:r>
              <a:rPr lang="en-US" sz="2000" dirty="0"/>
              <a:t/>
            </a:r>
            <a:br>
              <a:rPr lang="en-US" sz="2000" dirty="0"/>
            </a:br>
            <a:r>
              <a:rPr lang="en-US" sz="2000" dirty="0" smtClean="0"/>
              <a:t>Height:10ft</a:t>
            </a:r>
            <a:r>
              <a:rPr lang="en-US" sz="2000" dirty="0"/>
              <a:t/>
            </a:r>
            <a:br>
              <a:rPr lang="en-US" sz="2000" dirty="0"/>
            </a:br>
            <a:r>
              <a:rPr lang="en-US" sz="2000" dirty="0"/>
              <a:t>Thickness of </a:t>
            </a:r>
            <a:r>
              <a:rPr lang="en-US" sz="2000" dirty="0" smtClean="0"/>
              <a:t>Wall:1ft</a:t>
            </a:r>
            <a:r>
              <a:rPr lang="en-US" sz="2000" dirty="0"/>
              <a:t/>
            </a:r>
            <a:br>
              <a:rPr lang="en-US" sz="2000" dirty="0"/>
            </a:br>
            <a:r>
              <a:rPr lang="en-US" sz="2000" dirty="0"/>
              <a:t>Length of </a:t>
            </a:r>
            <a:r>
              <a:rPr lang="en-US" sz="2000" dirty="0" smtClean="0"/>
              <a:t>doors:7ft</a:t>
            </a:r>
            <a:r>
              <a:rPr lang="en-US" sz="2000" dirty="0"/>
              <a:t/>
            </a:r>
            <a:br>
              <a:rPr lang="en-US" sz="2000" dirty="0"/>
            </a:br>
            <a:r>
              <a:rPr lang="en-US" sz="2000" dirty="0"/>
              <a:t>Breadth of </a:t>
            </a:r>
            <a:r>
              <a:rPr lang="en-US" sz="2000" dirty="0" smtClean="0"/>
              <a:t>doors:3ft</a:t>
            </a:r>
            <a:endParaRPr lang="en-US" dirty="0"/>
          </a:p>
        </p:txBody>
      </p:sp>
      <p:sp>
        <p:nvSpPr>
          <p:cNvPr id="3" name="TextBox 2">
            <a:extLst>
              <a:ext uri="{FF2B5EF4-FFF2-40B4-BE49-F238E27FC236}">
                <a16:creationId xmlns:a16="http://schemas.microsoft.com/office/drawing/2014/main" xmlns="" id="{034B90C4-21B9-2EA3-62D8-7ADAE57A383F}"/>
              </a:ext>
            </a:extLst>
          </p:cNvPr>
          <p:cNvSpPr txBox="1"/>
          <p:nvPr/>
        </p:nvSpPr>
        <p:spPr>
          <a:xfrm>
            <a:off x="4562354" y="4043938"/>
            <a:ext cx="509286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Segoe UI"/>
              </a:rPr>
              <a:t>Total volume of walls excluding </a:t>
            </a:r>
            <a:r>
              <a:rPr lang="en-US" sz="2000" dirty="0" smtClean="0">
                <a:cs typeface="Segoe UI"/>
              </a:rPr>
              <a:t>doors:</a:t>
            </a:r>
            <a:endParaRPr lang="en-US" sz="2000" dirty="0">
              <a:cs typeface="Segoe UI"/>
            </a:endParaRPr>
          </a:p>
        </p:txBody>
      </p:sp>
      <p:sp>
        <p:nvSpPr>
          <p:cNvPr id="5" name="TextBox 4">
            <a:extLst>
              <a:ext uri="{FF2B5EF4-FFF2-40B4-BE49-F238E27FC236}">
                <a16:creationId xmlns:a16="http://schemas.microsoft.com/office/drawing/2014/main" xmlns="" id="{58388D51-E5EE-7390-211D-AAAF3182E3FC}"/>
              </a:ext>
            </a:extLst>
          </p:cNvPr>
          <p:cNvSpPr txBox="1"/>
          <p:nvPr/>
        </p:nvSpPr>
        <p:spPr>
          <a:xfrm>
            <a:off x="4562354" y="3401650"/>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 1100ft3</a:t>
            </a:r>
            <a:endParaRPr lang="en-US" dirty="0"/>
          </a:p>
        </p:txBody>
      </p:sp>
      <p:sp>
        <p:nvSpPr>
          <p:cNvPr id="6" name="TextBox 5">
            <a:extLst>
              <a:ext uri="{FF2B5EF4-FFF2-40B4-BE49-F238E27FC236}">
                <a16:creationId xmlns:a16="http://schemas.microsoft.com/office/drawing/2014/main" xmlns="" id="{58FFE0E0-E8ED-6708-E2EB-567E002B0396}"/>
              </a:ext>
            </a:extLst>
          </p:cNvPr>
          <p:cNvSpPr txBox="1"/>
          <p:nvPr/>
        </p:nvSpPr>
        <p:spPr>
          <a:xfrm>
            <a:off x="4613091" y="2550399"/>
            <a:ext cx="498847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Calisto MT"/>
                <a:cs typeface="Segoe UI"/>
              </a:rPr>
              <a:t>Volume of all Walls where there are 2 length side wall and 2 breadth side wall:</a:t>
            </a:r>
            <a:endParaRPr lang="en-US" sz="2000" dirty="0">
              <a:cs typeface="Segoe UI"/>
            </a:endParaRPr>
          </a:p>
        </p:txBody>
      </p:sp>
      <p:sp>
        <p:nvSpPr>
          <p:cNvPr id="7" name="TextBox 6">
            <a:extLst>
              <a:ext uri="{FF2B5EF4-FFF2-40B4-BE49-F238E27FC236}">
                <a16:creationId xmlns:a16="http://schemas.microsoft.com/office/drawing/2014/main" xmlns="" id="{0B0751F4-1F8B-D73D-C7FC-3C98186EF3B1}"/>
              </a:ext>
            </a:extLst>
          </p:cNvPr>
          <p:cNvSpPr txBox="1"/>
          <p:nvPr/>
        </p:nvSpPr>
        <p:spPr>
          <a:xfrm>
            <a:off x="4666918" y="4546329"/>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Calisto MT"/>
              </a:rPr>
              <a:t>=</a:t>
            </a:r>
            <a:r>
              <a:rPr lang="en-US" dirty="0">
                <a:latin typeface="Calisto MT"/>
              </a:rPr>
              <a:t> </a:t>
            </a:r>
            <a:r>
              <a:rPr lang="en-US" dirty="0" smtClean="0">
                <a:latin typeface="Calisto MT"/>
              </a:rPr>
              <a:t>1058ft3</a:t>
            </a:r>
            <a:endParaRPr lang="en-US" dirty="0"/>
          </a:p>
        </p:txBody>
      </p:sp>
    </p:spTree>
    <p:extLst>
      <p:ext uri="{BB962C8B-B14F-4D97-AF65-F5344CB8AC3E}">
        <p14:creationId xmlns:p14="http://schemas.microsoft.com/office/powerpoint/2010/main" xmlns="" val="3026060453"/>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30514D6B-88ED-E3C6-7E51-384D4F5E3A1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48483E03-F63C-254A-D7F9-C748C848F7A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16D21776-DE85-2595-DBF1-C3E3CD2FDD6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1FAC1AAF-C867-6CD5-A1BD-ED07D617B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6798423-AA7B-85BE-D2BE-672D06E4883A}"/>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STAIR WAY:</a:t>
            </a:r>
          </a:p>
        </p:txBody>
      </p:sp>
      <p:cxnSp>
        <p:nvCxnSpPr>
          <p:cNvPr id="14" name="Straight Connector 13">
            <a:extLst>
              <a:ext uri="{FF2B5EF4-FFF2-40B4-BE49-F238E27FC236}">
                <a16:creationId xmlns:a16="http://schemas.microsoft.com/office/drawing/2014/main" xmlns="" id="{798F1C35-7C1A-5298-67EA-9DC51A9F1CAF}"/>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CBED3805-C86F-35A2-303C-F89A576BBED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82DC1E43-C51D-23E8-7FCA-D9861E9725B0}"/>
              </a:ext>
            </a:extLst>
          </p:cNvPr>
          <p:cNvSpPr txBox="1"/>
          <p:nvPr/>
        </p:nvSpPr>
        <p:spPr>
          <a:xfrm>
            <a:off x="800581" y="2551253"/>
            <a:ext cx="2936532"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Measurements:</a:t>
            </a:r>
            <a:br>
              <a:rPr lang="en-US" sz="2800" dirty="0"/>
            </a:br>
            <a:r>
              <a:rPr lang="en-US" sz="2000" dirty="0" smtClean="0"/>
              <a:t>Length:28ft</a:t>
            </a:r>
            <a:r>
              <a:rPr lang="en-US" sz="2000" dirty="0"/>
              <a:t/>
            </a:r>
            <a:br>
              <a:rPr lang="en-US" sz="2000" dirty="0"/>
            </a:br>
            <a:r>
              <a:rPr lang="en-US" sz="2000" dirty="0" smtClean="0"/>
              <a:t>Breadth:18ft</a:t>
            </a:r>
            <a:r>
              <a:rPr lang="en-US" sz="2000" dirty="0"/>
              <a:t/>
            </a:r>
            <a:br>
              <a:rPr lang="en-US" sz="2000" dirty="0"/>
            </a:br>
            <a:r>
              <a:rPr lang="en-US" sz="2000" dirty="0" smtClean="0"/>
              <a:t>Height:10ft</a:t>
            </a:r>
            <a:r>
              <a:rPr lang="en-US" sz="2000" dirty="0"/>
              <a:t/>
            </a:r>
            <a:br>
              <a:rPr lang="en-US" sz="2000" dirty="0"/>
            </a:br>
            <a:r>
              <a:rPr lang="en-US" sz="2000" dirty="0"/>
              <a:t>Thickness of </a:t>
            </a:r>
            <a:r>
              <a:rPr lang="en-US" sz="2000" dirty="0" smtClean="0"/>
              <a:t>Wall:1ft</a:t>
            </a:r>
            <a:endParaRPr lang="en-US" dirty="0"/>
          </a:p>
          <a:p>
            <a:r>
              <a:rPr lang="en-US" sz="2000" dirty="0"/>
              <a:t>Length of </a:t>
            </a:r>
            <a:r>
              <a:rPr lang="en-US" sz="2000" dirty="0" smtClean="0"/>
              <a:t>ventilation:9ft</a:t>
            </a:r>
            <a:r>
              <a:rPr lang="en-US" sz="2000" dirty="0"/>
              <a:t/>
            </a:r>
            <a:br>
              <a:rPr lang="en-US" sz="2000" dirty="0"/>
            </a:br>
            <a:r>
              <a:rPr lang="en-US" sz="2000" dirty="0"/>
              <a:t>Breadth of </a:t>
            </a:r>
            <a:r>
              <a:rPr lang="en-US" sz="2000" dirty="0" smtClean="0"/>
              <a:t>ventilation:3ft</a:t>
            </a:r>
            <a:endParaRPr lang="en-US" dirty="0"/>
          </a:p>
        </p:txBody>
      </p:sp>
      <p:sp>
        <p:nvSpPr>
          <p:cNvPr id="3" name="TextBox 2">
            <a:extLst>
              <a:ext uri="{FF2B5EF4-FFF2-40B4-BE49-F238E27FC236}">
                <a16:creationId xmlns:a16="http://schemas.microsoft.com/office/drawing/2014/main" xmlns="" id="{5BCCF58D-6E93-CCD6-93B3-B89D2201A097}"/>
              </a:ext>
            </a:extLst>
          </p:cNvPr>
          <p:cNvSpPr txBox="1"/>
          <p:nvPr/>
        </p:nvSpPr>
        <p:spPr>
          <a:xfrm>
            <a:off x="4562354" y="4043938"/>
            <a:ext cx="509286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Segoe UI"/>
              </a:rPr>
              <a:t>Total volume of walls </a:t>
            </a:r>
            <a:r>
              <a:rPr lang="en-US" sz="2000" dirty="0" smtClean="0">
                <a:cs typeface="Segoe UI"/>
              </a:rPr>
              <a:t>excluding ventilation</a:t>
            </a:r>
            <a:endParaRPr lang="en-US" sz="2000" dirty="0">
              <a:cs typeface="Segoe UI"/>
            </a:endParaRPr>
          </a:p>
        </p:txBody>
      </p:sp>
      <p:sp>
        <p:nvSpPr>
          <p:cNvPr id="5" name="TextBox 4">
            <a:extLst>
              <a:ext uri="{FF2B5EF4-FFF2-40B4-BE49-F238E27FC236}">
                <a16:creationId xmlns:a16="http://schemas.microsoft.com/office/drawing/2014/main" xmlns="" id="{B35FC534-A2F5-C373-8373-4C2158047051}"/>
              </a:ext>
            </a:extLst>
          </p:cNvPr>
          <p:cNvSpPr txBox="1"/>
          <p:nvPr/>
        </p:nvSpPr>
        <p:spPr>
          <a:xfrm>
            <a:off x="4562354" y="3401650"/>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Calisto MT"/>
              </a:rPr>
              <a:t>=</a:t>
            </a:r>
            <a:r>
              <a:rPr lang="en-US" dirty="0">
                <a:latin typeface="Calisto MT"/>
              </a:rPr>
              <a:t> </a:t>
            </a:r>
            <a:r>
              <a:rPr lang="en-US" dirty="0" smtClean="0">
                <a:latin typeface="Calisto MT"/>
              </a:rPr>
              <a:t>640ft3</a:t>
            </a:r>
            <a:endParaRPr lang="en-US" dirty="0"/>
          </a:p>
        </p:txBody>
      </p:sp>
      <p:sp>
        <p:nvSpPr>
          <p:cNvPr id="6" name="TextBox 5">
            <a:extLst>
              <a:ext uri="{FF2B5EF4-FFF2-40B4-BE49-F238E27FC236}">
                <a16:creationId xmlns:a16="http://schemas.microsoft.com/office/drawing/2014/main" xmlns="" id="{23B16A3E-6E77-1D51-F3B4-3468EF8685F3}"/>
              </a:ext>
            </a:extLst>
          </p:cNvPr>
          <p:cNvSpPr txBox="1"/>
          <p:nvPr/>
        </p:nvSpPr>
        <p:spPr>
          <a:xfrm>
            <a:off x="4613091" y="2550399"/>
            <a:ext cx="498847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Calisto MT"/>
                <a:cs typeface="Segoe UI"/>
              </a:rPr>
              <a:t>Volume of all Walls where there are 2 length side wall and 2 breadth side wall:</a:t>
            </a:r>
            <a:endParaRPr lang="en-US" sz="2000" dirty="0">
              <a:cs typeface="Segoe UI"/>
            </a:endParaRPr>
          </a:p>
        </p:txBody>
      </p:sp>
      <p:sp>
        <p:nvSpPr>
          <p:cNvPr id="7" name="TextBox 6">
            <a:extLst>
              <a:ext uri="{FF2B5EF4-FFF2-40B4-BE49-F238E27FC236}">
                <a16:creationId xmlns:a16="http://schemas.microsoft.com/office/drawing/2014/main" xmlns="" id="{E6927836-FE3A-157B-F903-F6C41B0ECC62}"/>
              </a:ext>
            </a:extLst>
          </p:cNvPr>
          <p:cNvSpPr txBox="1"/>
          <p:nvPr/>
        </p:nvSpPr>
        <p:spPr>
          <a:xfrm>
            <a:off x="4574152" y="4546328"/>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 613ft3</a:t>
            </a:r>
            <a:endParaRPr lang="en-US" dirty="0"/>
          </a:p>
        </p:txBody>
      </p:sp>
    </p:spTree>
    <p:extLst>
      <p:ext uri="{BB962C8B-B14F-4D97-AF65-F5344CB8AC3E}">
        <p14:creationId xmlns:p14="http://schemas.microsoft.com/office/powerpoint/2010/main" xmlns="" val="3132810959"/>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30514D6B-88ED-E3C6-7E51-384D4F5E3A1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48483E03-F63C-254A-D7F9-C748C848F7A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16D21776-DE85-2595-DBF1-C3E3CD2FDD6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1FAC1AAF-C867-6CD5-A1BD-ED07D617B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56798423-AA7B-85BE-D2BE-672D06E4883A}"/>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smtClean="0"/>
              <a:t>Total volume:</a:t>
            </a:r>
            <a:endParaRPr lang="en-US" sz="6600" dirty="0"/>
          </a:p>
        </p:txBody>
      </p:sp>
      <p:cxnSp>
        <p:nvCxnSpPr>
          <p:cNvPr id="14" name="Straight Connector 13">
            <a:extLst>
              <a:ext uri="{FF2B5EF4-FFF2-40B4-BE49-F238E27FC236}">
                <a16:creationId xmlns:a16="http://schemas.microsoft.com/office/drawing/2014/main" xmlns="" id="{798F1C35-7C1A-5298-67EA-9DC51A9F1CAF}"/>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CBED3805-C86F-35A2-303C-F89A576BBED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82DC1E43-C51D-23E8-7FCA-D9861E9725B0}"/>
              </a:ext>
            </a:extLst>
          </p:cNvPr>
          <p:cNvSpPr txBox="1"/>
          <p:nvPr/>
        </p:nvSpPr>
        <p:spPr>
          <a:xfrm>
            <a:off x="800580" y="2551253"/>
            <a:ext cx="32413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VOLUME OF CLASSROOM = 791ft3 </a:t>
            </a:r>
            <a:endParaRPr lang="en-US" dirty="0"/>
          </a:p>
        </p:txBody>
      </p:sp>
      <p:sp>
        <p:nvSpPr>
          <p:cNvPr id="5" name="TextBox 4">
            <a:extLst>
              <a:ext uri="{FF2B5EF4-FFF2-40B4-BE49-F238E27FC236}">
                <a16:creationId xmlns:a16="http://schemas.microsoft.com/office/drawing/2014/main" xmlns="" id="{B35FC534-A2F5-C373-8373-4C2158047051}"/>
              </a:ext>
            </a:extLst>
          </p:cNvPr>
          <p:cNvSpPr txBox="1"/>
          <p:nvPr/>
        </p:nvSpPr>
        <p:spPr>
          <a:xfrm>
            <a:off x="4615363" y="3282380"/>
            <a:ext cx="4753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solidFill>
                  <a:srgbClr val="FFFFFF"/>
                </a:solidFill>
                <a:latin typeface="Calisto MT"/>
              </a:rPr>
              <a:t>TOTAL VOLUME = 20*719 + 4*(1058+613)</a:t>
            </a:r>
            <a:endParaRPr lang="en-US" dirty="0"/>
          </a:p>
        </p:txBody>
      </p:sp>
      <p:sp>
        <p:nvSpPr>
          <p:cNvPr id="6" name="TextBox 5">
            <a:extLst>
              <a:ext uri="{FF2B5EF4-FFF2-40B4-BE49-F238E27FC236}">
                <a16:creationId xmlns:a16="http://schemas.microsoft.com/office/drawing/2014/main" xmlns="" id="{23B16A3E-6E77-1D51-F3B4-3468EF8685F3}"/>
              </a:ext>
            </a:extLst>
          </p:cNvPr>
          <p:cNvSpPr txBox="1"/>
          <p:nvPr/>
        </p:nvSpPr>
        <p:spPr>
          <a:xfrm>
            <a:off x="4613091" y="2550399"/>
            <a:ext cx="498847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smtClean="0">
                <a:solidFill>
                  <a:srgbClr val="FFFFFF"/>
                </a:solidFill>
                <a:latin typeface="Calisto MT"/>
                <a:cs typeface="Segoe UI"/>
              </a:rPr>
              <a:t>SINCE there are 20 classrooms, 4 washrooms, and 4 stairways in the building,</a:t>
            </a:r>
            <a:endParaRPr lang="en-US" sz="2000" dirty="0">
              <a:cs typeface="Segoe UI"/>
            </a:endParaRPr>
          </a:p>
        </p:txBody>
      </p:sp>
      <p:sp>
        <p:nvSpPr>
          <p:cNvPr id="13" name="TextBox 12">
            <a:extLst>
              <a:ext uri="{FF2B5EF4-FFF2-40B4-BE49-F238E27FC236}">
                <a16:creationId xmlns:a16="http://schemas.microsoft.com/office/drawing/2014/main" xmlns="" id="{82DC1E43-C51D-23E8-7FCA-D9861E9725B0}"/>
              </a:ext>
            </a:extLst>
          </p:cNvPr>
          <p:cNvSpPr txBox="1"/>
          <p:nvPr/>
        </p:nvSpPr>
        <p:spPr>
          <a:xfrm>
            <a:off x="793955" y="3300002"/>
            <a:ext cx="32413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VOLUME OF WAHROOM   = 1058ft3</a:t>
            </a:r>
            <a:endParaRPr lang="en-US" dirty="0"/>
          </a:p>
        </p:txBody>
      </p:sp>
      <p:sp>
        <p:nvSpPr>
          <p:cNvPr id="15" name="TextBox 14">
            <a:extLst>
              <a:ext uri="{FF2B5EF4-FFF2-40B4-BE49-F238E27FC236}">
                <a16:creationId xmlns:a16="http://schemas.microsoft.com/office/drawing/2014/main" xmlns="" id="{82DC1E43-C51D-23E8-7FCA-D9861E9725B0}"/>
              </a:ext>
            </a:extLst>
          </p:cNvPr>
          <p:cNvSpPr txBox="1"/>
          <p:nvPr/>
        </p:nvSpPr>
        <p:spPr>
          <a:xfrm>
            <a:off x="833711" y="4055374"/>
            <a:ext cx="32413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VOLUME OF STAIRWAY    = 613ft3 </a:t>
            </a:r>
            <a:endParaRPr lang="en-US" dirty="0"/>
          </a:p>
        </p:txBody>
      </p:sp>
      <p:sp>
        <p:nvSpPr>
          <p:cNvPr id="17" name="TextBox 16">
            <a:extLst>
              <a:ext uri="{FF2B5EF4-FFF2-40B4-BE49-F238E27FC236}">
                <a16:creationId xmlns:a16="http://schemas.microsoft.com/office/drawing/2014/main" xmlns="" id="{B35FC534-A2F5-C373-8373-4C2158047051}"/>
              </a:ext>
            </a:extLst>
          </p:cNvPr>
          <p:cNvSpPr txBox="1"/>
          <p:nvPr/>
        </p:nvSpPr>
        <p:spPr>
          <a:xfrm>
            <a:off x="6517052" y="3673319"/>
            <a:ext cx="4753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 25504ft3 #</a:t>
            </a:r>
            <a:endParaRPr lang="en-US" dirty="0"/>
          </a:p>
        </p:txBody>
      </p:sp>
    </p:spTree>
    <p:extLst>
      <p:ext uri="{BB962C8B-B14F-4D97-AF65-F5344CB8AC3E}">
        <p14:creationId xmlns:p14="http://schemas.microsoft.com/office/powerpoint/2010/main" xmlns="" val="3132810959"/>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30514D6B-88ED-E3C6-7E51-384D4F5E3A1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48483E03-F63C-254A-D7F9-C748C848F7A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16D21776-DE85-2595-DBF1-C3E3CD2FDD6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1FAC1AAF-C867-6CD5-A1BD-ED07D617B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56798423-AA7B-85BE-D2BE-672D06E4883A}"/>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smtClean="0"/>
              <a:t>NUMBER OF BRICKS:</a:t>
            </a:r>
            <a:endParaRPr lang="en-US" sz="6600" dirty="0"/>
          </a:p>
        </p:txBody>
      </p:sp>
      <p:cxnSp>
        <p:nvCxnSpPr>
          <p:cNvPr id="14" name="Straight Connector 13">
            <a:extLst>
              <a:ext uri="{FF2B5EF4-FFF2-40B4-BE49-F238E27FC236}">
                <a16:creationId xmlns:a16="http://schemas.microsoft.com/office/drawing/2014/main" xmlns="" id="{798F1C35-7C1A-5298-67EA-9DC51A9F1CAF}"/>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CBED3805-C86F-35A2-303C-F89A576BBED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xmlns="" id="{B35FC534-A2F5-C373-8373-4C2158047051}"/>
              </a:ext>
            </a:extLst>
          </p:cNvPr>
          <p:cNvSpPr txBox="1"/>
          <p:nvPr/>
        </p:nvSpPr>
        <p:spPr>
          <a:xfrm>
            <a:off x="957761" y="2659528"/>
            <a:ext cx="96704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smtClean="0">
                <a:solidFill>
                  <a:srgbClr val="FFFFFF"/>
                </a:solidFill>
                <a:latin typeface="Calisto MT"/>
              </a:rPr>
              <a:t>TOTAL NUMBER OF BRICKS = (25504 / 0.042)ft3</a:t>
            </a:r>
            <a:endParaRPr lang="en-US" sz="2800" dirty="0"/>
          </a:p>
        </p:txBody>
      </p:sp>
      <p:sp>
        <p:nvSpPr>
          <p:cNvPr id="17" name="TextBox 16">
            <a:extLst>
              <a:ext uri="{FF2B5EF4-FFF2-40B4-BE49-F238E27FC236}">
                <a16:creationId xmlns:a16="http://schemas.microsoft.com/office/drawing/2014/main" xmlns="" id="{B35FC534-A2F5-C373-8373-4C2158047051}"/>
              </a:ext>
            </a:extLst>
          </p:cNvPr>
          <p:cNvSpPr txBox="1"/>
          <p:nvPr/>
        </p:nvSpPr>
        <p:spPr>
          <a:xfrm>
            <a:off x="6106233" y="3222745"/>
            <a:ext cx="31040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smtClean="0"/>
              <a:t>= 535810 (approx)</a:t>
            </a:r>
            <a:endParaRPr lang="en-US" sz="2800" dirty="0"/>
          </a:p>
        </p:txBody>
      </p:sp>
    </p:spTree>
    <p:extLst>
      <p:ext uri="{BB962C8B-B14F-4D97-AF65-F5344CB8AC3E}">
        <p14:creationId xmlns:p14="http://schemas.microsoft.com/office/powerpoint/2010/main" xmlns="" val="3132810959"/>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30514D6B-88ED-E3C6-7E51-384D4F5E3A1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48483E03-F63C-254A-D7F9-C748C848F7A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16D21776-DE85-2595-DBF1-C3E3CD2FDD6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xmlns="" id="{1FAC1AAF-C867-6CD5-A1BD-ED07D617B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56798423-AA7B-85BE-D2BE-672D06E4883A}"/>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smtClean="0"/>
              <a:t>TOTAL COST:</a:t>
            </a:r>
            <a:endParaRPr lang="en-US" sz="6600" dirty="0"/>
          </a:p>
        </p:txBody>
      </p:sp>
      <p:cxnSp>
        <p:nvCxnSpPr>
          <p:cNvPr id="14" name="Straight Connector 13">
            <a:extLst>
              <a:ext uri="{FF2B5EF4-FFF2-40B4-BE49-F238E27FC236}">
                <a16:creationId xmlns:a16="http://schemas.microsoft.com/office/drawing/2014/main" xmlns="" id="{798F1C35-7C1A-5298-67EA-9DC51A9F1CAF}"/>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CBED3805-C86F-35A2-303C-F89A576BBED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xmlns="" id="{B35FC534-A2F5-C373-8373-4C2158047051}"/>
              </a:ext>
            </a:extLst>
          </p:cNvPr>
          <p:cNvSpPr txBox="1"/>
          <p:nvPr/>
        </p:nvSpPr>
        <p:spPr>
          <a:xfrm>
            <a:off x="957761" y="2659528"/>
            <a:ext cx="96704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smtClean="0"/>
              <a:t>= 535810 * 13</a:t>
            </a:r>
            <a:endParaRPr lang="en-US" sz="2800" dirty="0"/>
          </a:p>
        </p:txBody>
      </p:sp>
      <p:sp>
        <p:nvSpPr>
          <p:cNvPr id="17" name="TextBox 16">
            <a:extLst>
              <a:ext uri="{FF2B5EF4-FFF2-40B4-BE49-F238E27FC236}">
                <a16:creationId xmlns:a16="http://schemas.microsoft.com/office/drawing/2014/main" xmlns="" id="{B35FC534-A2F5-C373-8373-4C2158047051}"/>
              </a:ext>
            </a:extLst>
          </p:cNvPr>
          <p:cNvSpPr txBox="1"/>
          <p:nvPr/>
        </p:nvSpPr>
        <p:spPr>
          <a:xfrm>
            <a:off x="990894" y="3222745"/>
            <a:ext cx="36871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smtClean="0"/>
              <a:t>= RS 6965530 approx</a:t>
            </a:r>
            <a:endParaRPr lang="en-US" sz="2800" dirty="0"/>
          </a:p>
        </p:txBody>
      </p:sp>
      <p:sp>
        <p:nvSpPr>
          <p:cNvPr id="11" name="Rectangle 10"/>
          <p:cNvSpPr/>
          <p:nvPr/>
        </p:nvSpPr>
        <p:spPr>
          <a:xfrm>
            <a:off x="4704067" y="2475708"/>
            <a:ext cx="4943515" cy="1384995"/>
          </a:xfrm>
          <a:prstGeom prst="rect">
            <a:avLst/>
          </a:prstGeom>
        </p:spPr>
        <p:txBody>
          <a:bodyPr wrap="square">
            <a:spAutoFit/>
          </a:bodyPr>
          <a:lstStyle/>
          <a:p>
            <a:r>
              <a:rPr lang="en-US" sz="2800" u="sng" dirty="0" smtClean="0">
                <a:effectLst>
                  <a:outerShdw blurRad="38100" dist="38100" dir="2700000" algn="tl">
                    <a:srgbClr val="000000">
                      <a:alpha val="43137"/>
                    </a:srgbClr>
                  </a:outerShdw>
                </a:effectLst>
              </a:rPr>
              <a:t>Since 1 brick costs RS13, Price of bricks is number of bricks * rs13</a:t>
            </a:r>
            <a:endParaRPr lang="en-US" sz="2800" u="sng"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xmlns="" val="3132810959"/>
      </p:ext>
    </p:extLst>
  </p:cSld>
  <p:clrMapOvr>
    <a:overrideClrMapping bg1="dk1" tx1="lt1" bg2="dk2" tx2="lt2" accent1="accent1" accent2="accent2" accent3="accent3" accent4="accent4" accent5="accent5" accent6="accent6" hlink="hlink" folHlink="folHlink"/>
  </p:clrMapOvr>
  <p:transition spd="med">
    <p:fade thruBlk="1"/>
  </p:transition>
  <p:timing>
    <p:tnLst>
      <p:par>
        <p:cTn id="1" dur="indefinite" restart="never" nodeType="tmRoot"/>
      </p:par>
    </p:tn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Metro</Template>
  <TotalTime>34</TotalTime>
  <Words>325</Words>
  <Application>Microsoft Office PowerPoint</Application>
  <PresentationFormat>Custom</PresentationFormat>
  <Paragraphs>50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ChronicleVTI</vt:lpstr>
      <vt:lpstr>Math Project Group-A</vt:lpstr>
      <vt:lpstr>To do:</vt:lpstr>
      <vt:lpstr>Method:</vt:lpstr>
      <vt:lpstr>Visualize:</vt:lpstr>
      <vt:lpstr>BRICK:</vt:lpstr>
      <vt:lpstr>CLASS ROOM:</vt:lpstr>
      <vt:lpstr>WASH ROOM:</vt:lpstr>
      <vt:lpstr>STAIR WAY:</vt:lpstr>
      <vt:lpstr>Total volume:</vt:lpstr>
      <vt:lpstr>NUMBER OF BRICKS:</vt:lpstr>
      <vt:lpstr>TOTAL COST: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 Project Group-A</dc:title>
  <dc:creator/>
  <cp:lastModifiedBy>DELL-3</cp:lastModifiedBy>
  <cp:revision>164</cp:revision>
  <dcterms:created xsi:type="dcterms:W3CDTF">2026-02-05T14:54:40Z</dcterms:created>
  <dcterms:modified xsi:type="dcterms:W3CDTF">2026-02-06T07:00:02Z</dcterms:modified>
</cp:coreProperties>
</file>